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running short on time, this slide and the next two can be compressed into a single spoken pass over the flow diagram from the previous slide.</a:t>
            </a:r>
            <a:endParaRPr/>
          </a:p>
        </p:txBody>
      </p:sp>
      <p:sp>
        <p:nvSpPr>
          <p:cNvPr id="128" name="Google Shape;12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23.png"/><Relationship Id="rId6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23.png"/><Relationship Id="rId6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23.png"/><Relationship Id="rId6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23.png"/><Relationship Id="rId6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23.png"/><Relationship Id="rId5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B36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162B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heartbeat_amber.png" id="17" name="Google Shape;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126" y="1008126"/>
            <a:ext cx="452628" cy="452628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6F5F1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6F5F1"/>
                </a:solidFill>
                <a:latin typeface="Cambria"/>
                <a:ea typeface="Cambria"/>
                <a:cs typeface="Cambria"/>
                <a:sym typeface="Cambria"/>
              </a:rPr>
              <a:t>One Prediction, Three Voices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22960" y="342900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891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8CA891"/>
                </a:solidFill>
                <a:latin typeface="Calibri"/>
                <a:ea typeface="Calibri"/>
                <a:cs typeface="Calibri"/>
                <a:sym typeface="Calibri"/>
              </a:rPr>
              <a:t>Designing AI That Explains Itself Differently to Different People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A72"/>
                </a:solidFill>
                <a:latin typeface="Calibri"/>
                <a:ea typeface="Calibri"/>
                <a:cs typeface="Calibri"/>
                <a:sym typeface="Calibri"/>
              </a:rPr>
              <a:t>Maitreya Sapariya  •  COG1, JYU Summer School  •  Aug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6949440" y="0"/>
            <a:ext cx="5242255" cy="6858000"/>
          </a:xfrm>
          <a:prstGeom prst="rect">
            <a:avLst/>
          </a:prstGeom>
          <a:solidFill>
            <a:srgbClr val="E8ECE9"/>
          </a:solidFill>
          <a:ln cap="flat" cmpd="sng" w="15875">
            <a:solidFill>
              <a:srgbClr val="AAB8B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7086600" y="3063240"/>
            <a:ext cx="4967935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7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7A72"/>
                </a:solidFill>
                <a:latin typeface="Calibri"/>
                <a:ea typeface="Calibri"/>
                <a:cs typeface="Calibri"/>
                <a:sym typeface="Calibri"/>
              </a:rPr>
              <a:t>[ Photo: an ASHA worker visiting a home in rural India, warm and candid, not staged 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7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7A72"/>
                </a:solidFill>
                <a:latin typeface="Calibri"/>
                <a:ea typeface="Calibri"/>
                <a:cs typeface="Calibri"/>
                <a:sym typeface="Calibri"/>
              </a:rPr>
              <a:t>Full-bleed right panel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7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7A72"/>
                </a:solidFill>
                <a:latin typeface="Calibri"/>
                <a:ea typeface="Calibri"/>
                <a:cs typeface="Calibri"/>
                <a:sym typeface="Calibri"/>
              </a:rPr>
              <a:t>5.73in W x 7.50in 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640080" y="2286000"/>
            <a:ext cx="60350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36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F3B36"/>
                </a:solidFill>
                <a:latin typeface="Cambria"/>
                <a:ea typeface="Cambria"/>
                <a:cs typeface="Cambria"/>
                <a:sym typeface="Cambria"/>
              </a:rPr>
              <a:t>Every day, a health worker walks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36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F3B36"/>
                </a:solidFill>
                <a:latin typeface="Cambria"/>
                <a:ea typeface="Cambria"/>
                <a:cs typeface="Cambria"/>
                <a:sym typeface="Cambria"/>
              </a:rPr>
              <a:t>into a home she already knows.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640080" y="4114800"/>
            <a:ext cx="5669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2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6B7A72"/>
                </a:solidFill>
                <a:latin typeface="Calibri"/>
                <a:ea typeface="Calibri"/>
                <a:cs typeface="Calibri"/>
                <a:sym typeface="Calibri"/>
              </a:rPr>
              <a:t>Long before any algorithm enters the picture, trust already has.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" name="Google Shape;30;p4" title="ChatGPT Image Aug 6, 2026, 08_41_00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1631" y="0"/>
            <a:ext cx="5237888" cy="6858001"/>
          </a:xfrm>
          <a:prstGeom prst="rect">
            <a:avLst/>
          </a:prstGeom>
          <a:solidFill>
            <a:srgbClr val="E8ECE9"/>
          </a:solidFill>
          <a:ln cap="flat" cmpd="sng" w="15875">
            <a:solidFill>
              <a:srgbClr val="AAB8B2"/>
            </a:solidFill>
            <a:prstDash val="dash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822960" y="777240"/>
            <a:ext cx="777240" cy="777240"/>
          </a:xfrm>
          <a:prstGeom prst="ellipse">
            <a:avLst/>
          </a:prstGeom>
          <a:solidFill>
            <a:srgbClr val="E8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heartbeat_teal.png" id="37" name="Google Shape;3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839" y="952119"/>
            <a:ext cx="427482" cy="427482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5"/>
          <p:cNvSpPr/>
          <p:nvPr/>
        </p:nvSpPr>
        <p:spPr>
          <a:xfrm>
            <a:off x="640080" y="1920240"/>
            <a:ext cx="7315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36"/>
              </a:buClr>
              <a:buSzPts val="7200"/>
              <a:buFont typeface="Cambria"/>
              <a:buNone/>
            </a:pPr>
            <a:r>
              <a:rPr b="1" i="0" lang="en-US" sz="7200" u="none" cap="none" strike="noStrike">
                <a:solidFill>
                  <a:srgbClr val="1F3B36"/>
                </a:solidFill>
                <a:latin typeface="Cambria"/>
                <a:ea typeface="Cambria"/>
                <a:cs typeface="Cambria"/>
                <a:sym typeface="Cambria"/>
              </a:rPr>
              <a:t>260,000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685800" y="3429000"/>
            <a:ext cx="5760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1F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20241F"/>
                </a:solidFill>
                <a:latin typeface="Calibri"/>
                <a:ea typeface="Calibri"/>
                <a:cs typeface="Calibri"/>
                <a:sym typeface="Calibri"/>
              </a:rPr>
              <a:t>women die from pregnancy-related causes worldwide, every year.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7315200" y="2377440"/>
            <a:ext cx="4206240" cy="1965960"/>
          </a:xfrm>
          <a:prstGeom prst="rect">
            <a:avLst/>
          </a:prstGeom>
          <a:solidFill>
            <a:srgbClr val="E8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7589520" y="2606040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9B4A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D89B4A"/>
                </a:solidFill>
                <a:latin typeface="Cambria"/>
                <a:ea typeface="Cambria"/>
                <a:cs typeface="Cambria"/>
                <a:sym typeface="Cambria"/>
              </a:rPr>
              <a:t>~2 min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7589520" y="3429000"/>
            <a:ext cx="3657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1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0241F"/>
                </a:solidFill>
                <a:latin typeface="Calibri"/>
                <a:ea typeface="Calibri"/>
                <a:cs typeface="Calibri"/>
                <a:sym typeface="Calibri"/>
              </a:rPr>
              <a:t>roughly the gap between each of these deaths, somewhere in the world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548640" y="635508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2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B7A72"/>
                </a:solidFill>
                <a:latin typeface="Calibri"/>
                <a:ea typeface="Calibri"/>
                <a:cs typeface="Calibri"/>
                <a:sym typeface="Calibri"/>
              </a:rPr>
              <a:t>Source: WHO / UN Maternal Mortality Estimation Inter-Agency Group, 2025 (reference year 2023)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/>
          <p:nvPr/>
        </p:nvSpPr>
        <p:spPr>
          <a:xfrm>
            <a:off x="822960" y="777240"/>
            <a:ext cx="777240" cy="777240"/>
          </a:xfrm>
          <a:prstGeom prst="ellipse">
            <a:avLst/>
          </a:prstGeom>
          <a:solidFill>
            <a:srgbClr val="E8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heartbeat_teal.png" id="50" name="Google Shape;5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839" y="952119"/>
            <a:ext cx="427482" cy="427482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6"/>
          <p:cNvSpPr/>
          <p:nvPr/>
        </p:nvSpPr>
        <p:spPr>
          <a:xfrm>
            <a:off x="640080" y="1920240"/>
            <a:ext cx="3657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36"/>
              </a:buClr>
              <a:buSzPts val="7200"/>
              <a:buFont typeface="Cambria"/>
              <a:buNone/>
            </a:pPr>
            <a:r>
              <a:rPr b="1" i="0" lang="en-US" sz="7200" u="none" cap="none" strike="noStrike">
                <a:solidFill>
                  <a:srgbClr val="1F3B36"/>
                </a:solidFill>
                <a:latin typeface="Cambria"/>
                <a:ea typeface="Cambria"/>
                <a:cs typeface="Cambria"/>
                <a:sym typeface="Cambria"/>
              </a:rPr>
              <a:t>97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685800" y="3429000"/>
            <a:ext cx="5029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1F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20241F"/>
                </a:solidFill>
                <a:latin typeface="Calibri"/>
                <a:ea typeface="Calibri"/>
                <a:cs typeface="Calibri"/>
                <a:sym typeface="Calibri"/>
              </a:rPr>
              <a:t>maternal deaths per 100,000 births in India, the country's own official figure.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7680960" y="86868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A72"/>
                </a:solidFill>
                <a:latin typeface="Calibri"/>
                <a:ea typeface="Calibri"/>
                <a:cs typeface="Calibri"/>
                <a:sym typeface="Calibri"/>
              </a:rPr>
              <a:t>Maternal deaths per 100,000 births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7680960" y="13258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1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0241F"/>
                </a:solidFill>
                <a:latin typeface="Calibri"/>
                <a:ea typeface="Calibri"/>
                <a:cs typeface="Calibri"/>
                <a:sym typeface="Calibri"/>
              </a:rPr>
              <a:t>Global average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7680960" y="1600200"/>
            <a:ext cx="3291840" cy="457200"/>
          </a:xfrm>
          <a:prstGeom prst="rect">
            <a:avLst/>
          </a:prstGeom>
          <a:solidFill>
            <a:srgbClr val="8CA8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6"/>
          <p:cNvSpPr/>
          <p:nvPr/>
        </p:nvSpPr>
        <p:spPr>
          <a:xfrm>
            <a:off x="11082528" y="160020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F3B36"/>
                </a:solidFill>
                <a:latin typeface="Calibri"/>
                <a:ea typeface="Calibri"/>
                <a:cs typeface="Calibri"/>
                <a:sym typeface="Calibri"/>
              </a:rPr>
              <a:t>197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7680960" y="22402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1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0241F"/>
                </a:solidFill>
                <a:latin typeface="Calibri"/>
                <a:ea typeface="Calibri"/>
                <a:cs typeface="Calibri"/>
                <a:sym typeface="Calibri"/>
              </a:rPr>
              <a:t>India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7680960" y="2514600"/>
            <a:ext cx="1620855" cy="457200"/>
          </a:xfrm>
          <a:prstGeom prst="rect">
            <a:avLst/>
          </a:prstGeom>
          <a:solidFill>
            <a:srgbClr val="D89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6"/>
          <p:cNvSpPr/>
          <p:nvPr/>
        </p:nvSpPr>
        <p:spPr>
          <a:xfrm>
            <a:off x="9411543" y="251460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F3B36"/>
                </a:solidFill>
                <a:latin typeface="Calibri"/>
                <a:ea typeface="Calibri"/>
                <a:cs typeface="Calibri"/>
                <a:sym typeface="Calibri"/>
              </a:rPr>
              <a:t>97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685800" y="4343400"/>
            <a:ext cx="8138160" cy="1371600"/>
          </a:xfrm>
          <a:prstGeom prst="rect">
            <a:avLst/>
          </a:prstGeom>
          <a:solidFill>
            <a:srgbClr val="E8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6"/>
          <p:cNvSpPr/>
          <p:nvPr/>
        </p:nvSpPr>
        <p:spPr>
          <a:xfrm>
            <a:off x="914400" y="4526280"/>
            <a:ext cx="76809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36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1F3B36"/>
                </a:solidFill>
                <a:latin typeface="Calibri"/>
                <a:ea typeface="Calibri"/>
                <a:cs typeface="Calibri"/>
                <a:sym typeface="Calibri"/>
              </a:rPr>
              <a:t>And a real share of these deaths trace back to one cause we can catch early: high blood pressure during pregnancy.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548640" y="635508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2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B7A72"/>
                </a:solidFill>
                <a:latin typeface="Calibri"/>
                <a:ea typeface="Calibri"/>
                <a:cs typeface="Calibri"/>
                <a:sym typeface="Calibri"/>
              </a:rPr>
              <a:t>Source: Registrar General of India, SRS Special Bulletin on Maternal Mortality, 2022 (reference period 2018–20)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"/>
          <p:cNvSpPr/>
          <p:nvPr/>
        </p:nvSpPr>
        <p:spPr>
          <a:xfrm>
            <a:off x="822960" y="777240"/>
            <a:ext cx="777240" cy="777240"/>
          </a:xfrm>
          <a:prstGeom prst="ellipse">
            <a:avLst/>
          </a:prstGeom>
          <a:solidFill>
            <a:srgbClr val="E8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nurse_teal.png" id="69" name="Google Shape;6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839" y="952119"/>
            <a:ext cx="427482" cy="427482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7"/>
          <p:cNvSpPr/>
          <p:nvPr/>
        </p:nvSpPr>
        <p:spPr>
          <a:xfrm>
            <a:off x="640080" y="1920240"/>
            <a:ext cx="8229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36"/>
              </a:buClr>
              <a:buSzPts val="6200"/>
              <a:buFont typeface="Cambria"/>
              <a:buNone/>
            </a:pPr>
            <a:r>
              <a:rPr b="1" i="0" lang="en-US" sz="6200" u="none" cap="none" strike="noStrike">
                <a:solidFill>
                  <a:srgbClr val="1F3B36"/>
                </a:solidFill>
                <a:latin typeface="Cambria"/>
                <a:ea typeface="Cambria"/>
                <a:cs typeface="Cambria"/>
                <a:sym typeface="Cambria"/>
              </a:rPr>
              <a:t>1.05 million</a:t>
            </a:r>
            <a:endParaRPr b="0" i="0" sz="6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7"/>
          <p:cNvSpPr/>
          <p:nvPr/>
        </p:nvSpPr>
        <p:spPr>
          <a:xfrm>
            <a:off x="685800" y="3291840"/>
            <a:ext cx="6035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1F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20241F"/>
                </a:solidFill>
                <a:latin typeface="Calibri"/>
                <a:ea typeface="Calibri"/>
                <a:cs typeface="Calibri"/>
                <a:sym typeface="Calibri"/>
              </a:rPr>
              <a:t>ASHA community health workers stand between rural India and its public health system.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685800" y="4160520"/>
            <a:ext cx="58521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2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B7A72"/>
                </a:solidFill>
                <a:latin typeface="Calibri"/>
                <a:ea typeface="Calibri"/>
                <a:cs typeface="Calibri"/>
                <a:sym typeface="Calibri"/>
              </a:rPr>
              <a:t>They counsel mothers-to-be, escort them to care, and are usually the very first person to notice something is wrong.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7315200" y="2377440"/>
            <a:ext cx="4206240" cy="1965960"/>
          </a:xfrm>
          <a:prstGeom prst="rect">
            <a:avLst/>
          </a:prstGeom>
          <a:solidFill>
            <a:srgbClr val="E8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/>
          <p:nvPr/>
        </p:nvSpPr>
        <p:spPr>
          <a:xfrm>
            <a:off x="7589520" y="2606040"/>
            <a:ext cx="3657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9B4A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D89B4A"/>
                </a:solidFill>
                <a:latin typeface="Cambria"/>
                <a:ea typeface="Cambria"/>
                <a:cs typeface="Cambria"/>
                <a:sym typeface="Cambria"/>
              </a:rPr>
              <a:t>~1 per 1,000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7589520" y="3383280"/>
            <a:ext cx="3657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1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0241F"/>
                </a:solidFill>
                <a:latin typeface="Calibri"/>
                <a:ea typeface="Calibri"/>
                <a:cs typeface="Calibri"/>
                <a:sym typeface="Calibri"/>
              </a:rPr>
              <a:t>people, the average reach of a single ASHA worker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548640" y="635508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2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B7A72"/>
                </a:solidFill>
                <a:latin typeface="Calibri"/>
                <a:ea typeface="Calibri"/>
                <a:cs typeface="Calibri"/>
                <a:sym typeface="Calibri"/>
              </a:rPr>
              <a:t>Source: National Health Mission Management Information System, as on 30 September 2024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"/>
          <p:cNvSpPr/>
          <p:nvPr/>
        </p:nvSpPr>
        <p:spPr>
          <a:xfrm>
            <a:off x="7589520" y="1005840"/>
            <a:ext cx="4053600" cy="4846200"/>
          </a:xfrm>
          <a:prstGeom prst="rect">
            <a:avLst/>
          </a:prstGeom>
          <a:solidFill>
            <a:srgbClr val="E8ECE9"/>
          </a:solidFill>
          <a:ln cap="flat" cmpd="sng" w="15875">
            <a:solidFill>
              <a:srgbClr val="AAB8B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8"/>
          <p:cNvSpPr/>
          <p:nvPr/>
        </p:nvSpPr>
        <p:spPr>
          <a:xfrm>
            <a:off x="7726680" y="3063240"/>
            <a:ext cx="3779215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7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7A72"/>
                </a:solidFill>
                <a:latin typeface="Calibri"/>
                <a:ea typeface="Calibri"/>
                <a:cs typeface="Calibri"/>
                <a:sym typeface="Calibri"/>
              </a:rPr>
              <a:t>[ Photo: close-up of a hand-written health register / MCP card 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7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7A72"/>
                </a:solidFill>
                <a:latin typeface="Calibri"/>
                <a:ea typeface="Calibri"/>
                <a:cs typeface="Calibri"/>
                <a:sym typeface="Calibri"/>
              </a:rPr>
              <a:t>4.43in W x 5.30in 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8"/>
          <p:cNvSpPr/>
          <p:nvPr/>
        </p:nvSpPr>
        <p:spPr>
          <a:xfrm>
            <a:off x="640080" y="822960"/>
            <a:ext cx="6583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36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F3B36"/>
                </a:solidFill>
                <a:latin typeface="Cambria"/>
                <a:ea typeface="Cambria"/>
                <a:cs typeface="Cambria"/>
                <a:sym typeface="Cambria"/>
              </a:rPr>
              <a:t>Her workload, before any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36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F3B36"/>
                </a:solidFill>
                <a:latin typeface="Cambria"/>
                <a:ea typeface="Cambria"/>
                <a:cs typeface="Cambria"/>
                <a:sym typeface="Cambria"/>
              </a:rPr>
              <a:t>new technology arrives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640080" y="2286000"/>
            <a:ext cx="2926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9B4A"/>
              </a:buClr>
              <a:buSzPts val="4800"/>
              <a:buFont typeface="Cambria"/>
              <a:buNone/>
            </a:pPr>
            <a:r>
              <a:rPr b="1" i="0" lang="en-US" sz="4800" u="none" cap="none" strike="noStrike">
                <a:solidFill>
                  <a:srgbClr val="D89B4A"/>
                </a:solidFill>
                <a:latin typeface="Cambria"/>
                <a:ea typeface="Cambria"/>
                <a:cs typeface="Cambria"/>
                <a:sym typeface="Cambria"/>
              </a:rPr>
              <a:t>30–40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685800" y="315468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1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0241F"/>
                </a:solidFill>
                <a:latin typeface="Calibri"/>
                <a:ea typeface="Calibri"/>
                <a:cs typeface="Calibri"/>
                <a:sym typeface="Calibri"/>
              </a:rPr>
              <a:t>home visits, every single day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640080" y="3840480"/>
            <a:ext cx="2926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9B4A"/>
              </a:buClr>
              <a:buSzPts val="4800"/>
              <a:buFont typeface="Cambria"/>
              <a:buNone/>
            </a:pPr>
            <a:r>
              <a:rPr b="1" i="0" lang="en-US" sz="4800" u="none" cap="none" strike="noStrike">
                <a:solidFill>
                  <a:srgbClr val="D89B4A"/>
                </a:solidFill>
                <a:latin typeface="Cambria"/>
                <a:ea typeface="Cambria"/>
                <a:cs typeface="Cambria"/>
                <a:sym typeface="Cambria"/>
              </a:rPr>
              <a:t>25–30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685800" y="4709160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1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0241F"/>
                </a:solidFill>
                <a:latin typeface="Calibri"/>
                <a:ea typeface="Calibri"/>
                <a:cs typeface="Calibri"/>
                <a:sym typeface="Calibri"/>
              </a:rPr>
              <a:t>paper and digital registers, filled by hand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548640" y="6446520"/>
            <a:ext cx="6583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2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B7A72"/>
                </a:solidFill>
                <a:latin typeface="Calibri"/>
                <a:ea typeface="Calibri"/>
                <a:cs typeface="Calibri"/>
                <a:sym typeface="Calibri"/>
              </a:rPr>
              <a:t>Source: Pandey &amp; Zheng, Information Systems Journal, 2023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8" title="ChatGPT Image Aug 6, 2026, 08_45_21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3750" y="925687"/>
            <a:ext cx="4466524" cy="5006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CE9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>
            <a:off x="5638648" y="1005840"/>
            <a:ext cx="914400" cy="914400"/>
          </a:xfrm>
          <a:prstGeom prst="ellipse">
            <a:avLst/>
          </a:prstGeom>
          <a:solidFill>
            <a:srgbClr val="1F3B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quote_sage.png" id="97" name="Google Shape;9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7248" y="12344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9"/>
          <p:cNvSpPr/>
          <p:nvPr/>
        </p:nvSpPr>
        <p:spPr>
          <a:xfrm>
            <a:off x="1280160" y="2468880"/>
            <a:ext cx="96012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B36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F3B36"/>
                </a:solidFill>
                <a:latin typeface="Cambria"/>
                <a:ea typeface="Cambria"/>
                <a:cs typeface="Cambria"/>
                <a:sym typeface="Cambria"/>
              </a:rPr>
              <a:t>A smarter model, dropped onto an already overloaded system, doesn't help anyone.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1280160" y="416052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0241F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20241F"/>
                </a:solidFill>
                <a:latin typeface="Calibri"/>
                <a:ea typeface="Calibri"/>
                <a:cs typeface="Calibri"/>
                <a:sym typeface="Calibri"/>
              </a:rPr>
              <a:t>It has to work for the person actually carrying it.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36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F3B36"/>
                </a:solidFill>
                <a:latin typeface="Cambria"/>
                <a:ea typeface="Cambria"/>
                <a:cs typeface="Cambria"/>
                <a:sym typeface="Cambria"/>
              </a:rPr>
              <a:t>One Prediction. Three Voices.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0"/>
          <p:cNvSpPr/>
          <p:nvPr/>
        </p:nvSpPr>
        <p:spPr>
          <a:xfrm>
            <a:off x="2103120" y="2651760"/>
            <a:ext cx="1554480" cy="1554480"/>
          </a:xfrm>
          <a:prstGeom prst="ellipse">
            <a:avLst/>
          </a:prstGeom>
          <a:solidFill>
            <a:srgbClr val="1F3B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heartbeat_amber.png" id="107" name="Google Shape;10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0602" y="3079242"/>
            <a:ext cx="699516" cy="699516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0"/>
          <p:cNvSpPr/>
          <p:nvPr/>
        </p:nvSpPr>
        <p:spPr>
          <a:xfrm>
            <a:off x="1600200" y="425196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B3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3B36"/>
                </a:solidFill>
                <a:latin typeface="Calibri"/>
                <a:ea typeface="Calibri"/>
                <a:cs typeface="Calibri"/>
                <a:sym typeface="Calibri"/>
              </a:rPr>
              <a:t>AI Risk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B3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3B36"/>
                </a:solidFill>
                <a:latin typeface="Calibri"/>
                <a:ea typeface="Calibri"/>
                <a:cs typeface="Calibri"/>
                <a:sym typeface="Calibri"/>
              </a:rPr>
              <a:t>Prediction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p10"/>
          <p:cNvCxnSpPr/>
          <p:nvPr/>
        </p:nvCxnSpPr>
        <p:spPr>
          <a:xfrm flipH="1" rot="10800000">
            <a:off x="3657600" y="1188720"/>
            <a:ext cx="5120640" cy="2240280"/>
          </a:xfrm>
          <a:prstGeom prst="straightConnector1">
            <a:avLst/>
          </a:prstGeom>
          <a:noFill/>
          <a:ln cap="flat" cmpd="sng" w="15875">
            <a:solidFill>
              <a:srgbClr val="AAB8B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0" name="Google Shape;110;p10"/>
          <p:cNvSpPr/>
          <p:nvPr/>
        </p:nvSpPr>
        <p:spPr>
          <a:xfrm>
            <a:off x="8778240" y="685800"/>
            <a:ext cx="1005840" cy="1005840"/>
          </a:xfrm>
          <a:prstGeom prst="ellipse">
            <a:avLst/>
          </a:prstGeom>
          <a:solidFill>
            <a:srgbClr val="E8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stethoscope_teal.png" id="111" name="Google Shape;11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04554" y="912114"/>
            <a:ext cx="553212" cy="55321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0"/>
          <p:cNvSpPr/>
          <p:nvPr/>
        </p:nvSpPr>
        <p:spPr>
          <a:xfrm>
            <a:off x="8412480" y="1737360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B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F3B36"/>
                </a:solidFill>
                <a:latin typeface="Calibri"/>
                <a:ea typeface="Calibri"/>
                <a:cs typeface="Calibri"/>
                <a:sym typeface="Calibri"/>
              </a:rPr>
              <a:t>Doctor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0"/>
          <p:cNvSpPr/>
          <p:nvPr/>
        </p:nvSpPr>
        <p:spPr>
          <a:xfrm>
            <a:off x="8412480" y="2057400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7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7A72"/>
                </a:solidFill>
                <a:latin typeface="Calibri"/>
                <a:ea typeface="Calibri"/>
                <a:cs typeface="Calibri"/>
                <a:sym typeface="Calibri"/>
              </a:rPr>
              <a:t>full detail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p10"/>
          <p:cNvCxnSpPr/>
          <p:nvPr/>
        </p:nvCxnSpPr>
        <p:spPr>
          <a:xfrm flipH="1" rot="10800000">
            <a:off x="3657600" y="3200400"/>
            <a:ext cx="5120640" cy="228600"/>
          </a:xfrm>
          <a:prstGeom prst="straightConnector1">
            <a:avLst/>
          </a:prstGeom>
          <a:noFill/>
          <a:ln cap="flat" cmpd="sng" w="15875">
            <a:solidFill>
              <a:srgbClr val="AAB8B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5" name="Google Shape;115;p10"/>
          <p:cNvSpPr/>
          <p:nvPr/>
        </p:nvSpPr>
        <p:spPr>
          <a:xfrm>
            <a:off x="8778240" y="2697480"/>
            <a:ext cx="1005840" cy="1005840"/>
          </a:xfrm>
          <a:prstGeom prst="ellipse">
            <a:avLst/>
          </a:prstGeom>
          <a:solidFill>
            <a:srgbClr val="E8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nurse_teal.png" id="116" name="Google Shape;116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04554" y="2923794"/>
            <a:ext cx="553212" cy="553212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0"/>
          <p:cNvSpPr/>
          <p:nvPr/>
        </p:nvSpPr>
        <p:spPr>
          <a:xfrm>
            <a:off x="8412480" y="3749040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B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F3B36"/>
                </a:solidFill>
                <a:latin typeface="Calibri"/>
                <a:ea typeface="Calibri"/>
                <a:cs typeface="Calibri"/>
                <a:sym typeface="Calibri"/>
              </a:rPr>
              <a:t>ASHA Worker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0"/>
          <p:cNvSpPr/>
          <p:nvPr/>
        </p:nvSpPr>
        <p:spPr>
          <a:xfrm>
            <a:off x="8412480" y="4069080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7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7A72"/>
                </a:solidFill>
                <a:latin typeface="Calibri"/>
                <a:ea typeface="Calibri"/>
                <a:cs typeface="Calibri"/>
                <a:sym typeface="Calibri"/>
              </a:rPr>
              <a:t>lighter load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" name="Google Shape;119;p10"/>
          <p:cNvCxnSpPr/>
          <p:nvPr/>
        </p:nvCxnSpPr>
        <p:spPr>
          <a:xfrm>
            <a:off x="3657600" y="3429000"/>
            <a:ext cx="5120640" cy="1783080"/>
          </a:xfrm>
          <a:prstGeom prst="straightConnector1">
            <a:avLst/>
          </a:prstGeom>
          <a:noFill/>
          <a:ln cap="flat" cmpd="sng" w="15875">
            <a:solidFill>
              <a:srgbClr val="AAB8B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20" name="Google Shape;120;p10"/>
          <p:cNvSpPr/>
          <p:nvPr/>
        </p:nvSpPr>
        <p:spPr>
          <a:xfrm>
            <a:off x="8778240" y="4709160"/>
            <a:ext cx="1005840" cy="1005840"/>
          </a:xfrm>
          <a:prstGeom prst="ellipse">
            <a:avLst/>
          </a:prstGeom>
          <a:solidFill>
            <a:srgbClr val="E8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mic_teal.png" id="121" name="Google Shape;121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04554" y="4935474"/>
            <a:ext cx="553212" cy="5532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0"/>
          <p:cNvSpPr/>
          <p:nvPr/>
        </p:nvSpPr>
        <p:spPr>
          <a:xfrm>
            <a:off x="8412480" y="5760720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B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F3B36"/>
                </a:solidFill>
                <a:latin typeface="Calibri"/>
                <a:ea typeface="Calibri"/>
                <a:cs typeface="Calibri"/>
                <a:sym typeface="Calibri"/>
              </a:rPr>
              <a:t>Mother-to-be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0"/>
          <p:cNvSpPr/>
          <p:nvPr/>
        </p:nvSpPr>
        <p:spPr>
          <a:xfrm>
            <a:off x="8412480" y="6080760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7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7A72"/>
                </a:solidFill>
                <a:latin typeface="Calibri"/>
                <a:ea typeface="Calibri"/>
                <a:cs typeface="Calibri"/>
                <a:sym typeface="Calibri"/>
              </a:rPr>
              <a:t>spoken, in her language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0"/>
          <p:cNvSpPr/>
          <p:nvPr/>
        </p:nvSpPr>
        <p:spPr>
          <a:xfrm>
            <a:off x="640080" y="6172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2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7A72"/>
                </a:solidFill>
                <a:latin typeface="Calibri"/>
                <a:ea typeface="Calibri"/>
                <a:cs typeface="Calibri"/>
                <a:sym typeface="Calibri"/>
              </a:rPr>
              <a:t>Solve for one, extend to many: the same design idea behind curb cuts and captions.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36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F3B36"/>
                </a:solidFill>
                <a:latin typeface="Cambria"/>
                <a:ea typeface="Cambria"/>
                <a:cs typeface="Cambria"/>
                <a:sym typeface="Cambria"/>
              </a:rPr>
              <a:t>For the doctor: every detail that matters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1"/>
          <p:cNvSpPr/>
          <p:nvPr/>
        </p:nvSpPr>
        <p:spPr>
          <a:xfrm>
            <a:off x="2103120" y="2651760"/>
            <a:ext cx="1554480" cy="1554480"/>
          </a:xfrm>
          <a:prstGeom prst="ellipse">
            <a:avLst/>
          </a:prstGeom>
          <a:solidFill>
            <a:srgbClr val="1F3B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heartbeat_amber.png" id="132" name="Google Shape;13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0602" y="3079242"/>
            <a:ext cx="699516" cy="699516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1"/>
          <p:cNvSpPr/>
          <p:nvPr/>
        </p:nvSpPr>
        <p:spPr>
          <a:xfrm>
            <a:off x="1600200" y="425196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B3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3B36"/>
                </a:solidFill>
                <a:latin typeface="Calibri"/>
                <a:ea typeface="Calibri"/>
                <a:cs typeface="Calibri"/>
                <a:sym typeface="Calibri"/>
              </a:rPr>
              <a:t>AI Risk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B3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3B36"/>
                </a:solidFill>
                <a:latin typeface="Calibri"/>
                <a:ea typeface="Calibri"/>
                <a:cs typeface="Calibri"/>
                <a:sym typeface="Calibri"/>
              </a:rPr>
              <a:t>Prediction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" name="Google Shape;134;p11"/>
          <p:cNvCxnSpPr/>
          <p:nvPr/>
        </p:nvCxnSpPr>
        <p:spPr>
          <a:xfrm flipH="1" rot="10800000">
            <a:off x="3657600" y="1188720"/>
            <a:ext cx="5120640" cy="2240280"/>
          </a:xfrm>
          <a:prstGeom prst="straightConnector1">
            <a:avLst/>
          </a:prstGeom>
          <a:noFill/>
          <a:ln cap="flat" cmpd="sng" w="28575">
            <a:solidFill>
              <a:srgbClr val="D89B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" name="Google Shape;135;p11"/>
          <p:cNvSpPr/>
          <p:nvPr/>
        </p:nvSpPr>
        <p:spPr>
          <a:xfrm>
            <a:off x="8778240" y="685800"/>
            <a:ext cx="1005840" cy="1005840"/>
          </a:xfrm>
          <a:prstGeom prst="ellipse">
            <a:avLst/>
          </a:prstGeom>
          <a:solidFill>
            <a:srgbClr val="D89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stethoscope_teal.png" id="136" name="Google Shape;13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04554" y="912114"/>
            <a:ext cx="553212" cy="553212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1"/>
          <p:cNvSpPr/>
          <p:nvPr/>
        </p:nvSpPr>
        <p:spPr>
          <a:xfrm>
            <a:off x="8412480" y="1737360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B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F3B36"/>
                </a:solidFill>
                <a:latin typeface="Calibri"/>
                <a:ea typeface="Calibri"/>
                <a:cs typeface="Calibri"/>
                <a:sym typeface="Calibri"/>
              </a:rPr>
              <a:t>Doctor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1"/>
          <p:cNvSpPr/>
          <p:nvPr/>
        </p:nvSpPr>
        <p:spPr>
          <a:xfrm>
            <a:off x="8412480" y="2057400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7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7A72"/>
                </a:solidFill>
                <a:latin typeface="Calibri"/>
                <a:ea typeface="Calibri"/>
                <a:cs typeface="Calibri"/>
                <a:sym typeface="Calibri"/>
              </a:rPr>
              <a:t>full detail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9" name="Google Shape;139;p11"/>
          <p:cNvCxnSpPr/>
          <p:nvPr/>
        </p:nvCxnSpPr>
        <p:spPr>
          <a:xfrm flipH="1" rot="10800000">
            <a:off x="3657600" y="3200400"/>
            <a:ext cx="5120640" cy="228600"/>
          </a:xfrm>
          <a:prstGeom prst="straightConnector1">
            <a:avLst/>
          </a:prstGeom>
          <a:noFill/>
          <a:ln cap="flat" cmpd="sng" w="15875">
            <a:solidFill>
              <a:srgbClr val="AAB8B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11"/>
          <p:cNvSpPr/>
          <p:nvPr/>
        </p:nvSpPr>
        <p:spPr>
          <a:xfrm>
            <a:off x="8778240" y="2697480"/>
            <a:ext cx="1005840" cy="1005840"/>
          </a:xfrm>
          <a:prstGeom prst="ellipse">
            <a:avLst/>
          </a:prstGeom>
          <a:solidFill>
            <a:srgbClr val="E8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nurse_teal.png" id="141" name="Google Shape;141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04554" y="2923794"/>
            <a:ext cx="553212" cy="55321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1"/>
          <p:cNvSpPr/>
          <p:nvPr/>
        </p:nvSpPr>
        <p:spPr>
          <a:xfrm>
            <a:off x="8412480" y="3749040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B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F3B36"/>
                </a:solidFill>
                <a:latin typeface="Calibri"/>
                <a:ea typeface="Calibri"/>
                <a:cs typeface="Calibri"/>
                <a:sym typeface="Calibri"/>
              </a:rPr>
              <a:t>ASHA Worker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1"/>
          <p:cNvSpPr/>
          <p:nvPr/>
        </p:nvSpPr>
        <p:spPr>
          <a:xfrm>
            <a:off x="8412480" y="4069080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7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7A72"/>
                </a:solidFill>
                <a:latin typeface="Calibri"/>
                <a:ea typeface="Calibri"/>
                <a:cs typeface="Calibri"/>
                <a:sym typeface="Calibri"/>
              </a:rPr>
              <a:t>lighter load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p11"/>
          <p:cNvCxnSpPr/>
          <p:nvPr/>
        </p:nvCxnSpPr>
        <p:spPr>
          <a:xfrm>
            <a:off x="3657600" y="3429000"/>
            <a:ext cx="5120640" cy="1783080"/>
          </a:xfrm>
          <a:prstGeom prst="straightConnector1">
            <a:avLst/>
          </a:prstGeom>
          <a:noFill/>
          <a:ln cap="flat" cmpd="sng" w="15875">
            <a:solidFill>
              <a:srgbClr val="AAB8B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" name="Google Shape;145;p11"/>
          <p:cNvSpPr/>
          <p:nvPr/>
        </p:nvSpPr>
        <p:spPr>
          <a:xfrm>
            <a:off x="8778240" y="4709160"/>
            <a:ext cx="1005840" cy="1005840"/>
          </a:xfrm>
          <a:prstGeom prst="ellipse">
            <a:avLst/>
          </a:prstGeom>
          <a:solidFill>
            <a:srgbClr val="E8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mic_teal.png" id="146" name="Google Shape;146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04554" y="4935474"/>
            <a:ext cx="553212" cy="553212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1"/>
          <p:cNvSpPr/>
          <p:nvPr/>
        </p:nvSpPr>
        <p:spPr>
          <a:xfrm>
            <a:off x="8412480" y="5760720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B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F3B36"/>
                </a:solidFill>
                <a:latin typeface="Calibri"/>
                <a:ea typeface="Calibri"/>
                <a:cs typeface="Calibri"/>
                <a:sym typeface="Calibri"/>
              </a:rPr>
              <a:t>Mother-to-be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1"/>
          <p:cNvSpPr/>
          <p:nvPr/>
        </p:nvSpPr>
        <p:spPr>
          <a:xfrm>
            <a:off x="8412480" y="6080760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7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7A72"/>
                </a:solidFill>
                <a:latin typeface="Calibri"/>
                <a:ea typeface="Calibri"/>
                <a:cs typeface="Calibri"/>
                <a:sym typeface="Calibri"/>
              </a:rPr>
              <a:t>spoken, in her language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1"/>
          <p:cNvSpPr/>
          <p:nvPr/>
        </p:nvSpPr>
        <p:spPr>
          <a:xfrm>
            <a:off x="640080" y="5669280"/>
            <a:ext cx="5852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1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0241F"/>
                </a:solidFill>
                <a:latin typeface="Calibri"/>
                <a:ea typeface="Calibri"/>
                <a:cs typeface="Calibri"/>
                <a:sym typeface="Calibri"/>
              </a:rPr>
              <a:t>Full clinical detail, presented the way a medical decision actually needs it.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36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F3B36"/>
                </a:solidFill>
                <a:latin typeface="Cambria"/>
                <a:ea typeface="Cambria"/>
                <a:cs typeface="Cambria"/>
                <a:sym typeface="Cambria"/>
              </a:rPr>
              <a:t>For the ASHA worker: something that helps, not adds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2"/>
          <p:cNvSpPr/>
          <p:nvPr/>
        </p:nvSpPr>
        <p:spPr>
          <a:xfrm>
            <a:off x="2103120" y="2651760"/>
            <a:ext cx="1554480" cy="1554480"/>
          </a:xfrm>
          <a:prstGeom prst="ellipse">
            <a:avLst/>
          </a:prstGeom>
          <a:solidFill>
            <a:srgbClr val="1F3B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heartbeat_amber.png" id="157" name="Google Shape;15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0602" y="3079242"/>
            <a:ext cx="699516" cy="699516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2"/>
          <p:cNvSpPr/>
          <p:nvPr/>
        </p:nvSpPr>
        <p:spPr>
          <a:xfrm>
            <a:off x="1600200" y="425196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B3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3B36"/>
                </a:solidFill>
                <a:latin typeface="Calibri"/>
                <a:ea typeface="Calibri"/>
                <a:cs typeface="Calibri"/>
                <a:sym typeface="Calibri"/>
              </a:rPr>
              <a:t>AI Risk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B3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3B36"/>
                </a:solidFill>
                <a:latin typeface="Calibri"/>
                <a:ea typeface="Calibri"/>
                <a:cs typeface="Calibri"/>
                <a:sym typeface="Calibri"/>
              </a:rPr>
              <a:t>Prediction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p12"/>
          <p:cNvCxnSpPr/>
          <p:nvPr/>
        </p:nvCxnSpPr>
        <p:spPr>
          <a:xfrm flipH="1" rot="10800000">
            <a:off x="3657600" y="1188720"/>
            <a:ext cx="5120640" cy="2240280"/>
          </a:xfrm>
          <a:prstGeom prst="straightConnector1">
            <a:avLst/>
          </a:prstGeom>
          <a:noFill/>
          <a:ln cap="flat" cmpd="sng" w="15875">
            <a:solidFill>
              <a:srgbClr val="AAB8B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p12"/>
          <p:cNvSpPr/>
          <p:nvPr/>
        </p:nvSpPr>
        <p:spPr>
          <a:xfrm>
            <a:off x="8778240" y="685800"/>
            <a:ext cx="1005840" cy="1005840"/>
          </a:xfrm>
          <a:prstGeom prst="ellipse">
            <a:avLst/>
          </a:prstGeom>
          <a:solidFill>
            <a:srgbClr val="E8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stethoscope_teal.png" id="161" name="Google Shape;16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04554" y="912114"/>
            <a:ext cx="553212" cy="5532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2"/>
          <p:cNvSpPr/>
          <p:nvPr/>
        </p:nvSpPr>
        <p:spPr>
          <a:xfrm>
            <a:off x="8412480" y="1737360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B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F3B36"/>
                </a:solidFill>
                <a:latin typeface="Calibri"/>
                <a:ea typeface="Calibri"/>
                <a:cs typeface="Calibri"/>
                <a:sym typeface="Calibri"/>
              </a:rPr>
              <a:t>Doctor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/>
          <p:nvPr/>
        </p:nvSpPr>
        <p:spPr>
          <a:xfrm>
            <a:off x="8412480" y="2057400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7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7A72"/>
                </a:solidFill>
                <a:latin typeface="Calibri"/>
                <a:ea typeface="Calibri"/>
                <a:cs typeface="Calibri"/>
                <a:sym typeface="Calibri"/>
              </a:rPr>
              <a:t>full detail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" name="Google Shape;164;p12"/>
          <p:cNvCxnSpPr/>
          <p:nvPr/>
        </p:nvCxnSpPr>
        <p:spPr>
          <a:xfrm flipH="1" rot="10800000">
            <a:off x="3657600" y="3200400"/>
            <a:ext cx="5120640" cy="228600"/>
          </a:xfrm>
          <a:prstGeom prst="straightConnector1">
            <a:avLst/>
          </a:prstGeom>
          <a:noFill/>
          <a:ln cap="flat" cmpd="sng" w="28575">
            <a:solidFill>
              <a:srgbClr val="D89B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" name="Google Shape;165;p12"/>
          <p:cNvSpPr/>
          <p:nvPr/>
        </p:nvSpPr>
        <p:spPr>
          <a:xfrm>
            <a:off x="8778240" y="2697480"/>
            <a:ext cx="1005840" cy="1005840"/>
          </a:xfrm>
          <a:prstGeom prst="ellipse">
            <a:avLst/>
          </a:prstGeom>
          <a:solidFill>
            <a:srgbClr val="D89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nurse_teal.png" id="166" name="Google Shape;166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04554" y="2923794"/>
            <a:ext cx="553212" cy="55321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2"/>
          <p:cNvSpPr/>
          <p:nvPr/>
        </p:nvSpPr>
        <p:spPr>
          <a:xfrm>
            <a:off x="8412480" y="3749040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B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F3B36"/>
                </a:solidFill>
                <a:latin typeface="Calibri"/>
                <a:ea typeface="Calibri"/>
                <a:cs typeface="Calibri"/>
                <a:sym typeface="Calibri"/>
              </a:rPr>
              <a:t>ASHA Worker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2"/>
          <p:cNvSpPr/>
          <p:nvPr/>
        </p:nvSpPr>
        <p:spPr>
          <a:xfrm>
            <a:off x="8412480" y="4069080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7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7A72"/>
                </a:solidFill>
                <a:latin typeface="Calibri"/>
                <a:ea typeface="Calibri"/>
                <a:cs typeface="Calibri"/>
                <a:sym typeface="Calibri"/>
              </a:rPr>
              <a:t>lighter load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" name="Google Shape;169;p12"/>
          <p:cNvCxnSpPr/>
          <p:nvPr/>
        </p:nvCxnSpPr>
        <p:spPr>
          <a:xfrm>
            <a:off x="3657600" y="3429000"/>
            <a:ext cx="5120640" cy="1783080"/>
          </a:xfrm>
          <a:prstGeom prst="straightConnector1">
            <a:avLst/>
          </a:prstGeom>
          <a:noFill/>
          <a:ln cap="flat" cmpd="sng" w="15875">
            <a:solidFill>
              <a:srgbClr val="AAB8B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" name="Google Shape;170;p12"/>
          <p:cNvSpPr/>
          <p:nvPr/>
        </p:nvSpPr>
        <p:spPr>
          <a:xfrm>
            <a:off x="8778240" y="4709160"/>
            <a:ext cx="1005840" cy="1005840"/>
          </a:xfrm>
          <a:prstGeom prst="ellipse">
            <a:avLst/>
          </a:prstGeom>
          <a:solidFill>
            <a:srgbClr val="E8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mic_teal.png" id="171" name="Google Shape;171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04554" y="4935474"/>
            <a:ext cx="553212" cy="553212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2"/>
          <p:cNvSpPr/>
          <p:nvPr/>
        </p:nvSpPr>
        <p:spPr>
          <a:xfrm>
            <a:off x="8412480" y="5760720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B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F3B36"/>
                </a:solidFill>
                <a:latin typeface="Calibri"/>
                <a:ea typeface="Calibri"/>
                <a:cs typeface="Calibri"/>
                <a:sym typeface="Calibri"/>
              </a:rPr>
              <a:t>Mother-to-be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2"/>
          <p:cNvSpPr/>
          <p:nvPr/>
        </p:nvSpPr>
        <p:spPr>
          <a:xfrm>
            <a:off x="8412480" y="6080760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7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7A72"/>
                </a:solidFill>
                <a:latin typeface="Calibri"/>
                <a:ea typeface="Calibri"/>
                <a:cs typeface="Calibri"/>
                <a:sym typeface="Calibri"/>
              </a:rPr>
              <a:t>spoken, in her language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2"/>
          <p:cNvSpPr/>
          <p:nvPr/>
        </p:nvSpPr>
        <p:spPr>
          <a:xfrm>
            <a:off x="640080" y="5669280"/>
            <a:ext cx="5852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1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0241F"/>
                </a:solidFill>
                <a:latin typeface="Calibri"/>
                <a:ea typeface="Calibri"/>
                <a:cs typeface="Calibri"/>
                <a:sym typeface="Calibri"/>
              </a:rPr>
              <a:t>Designed to lighten her documentation load, not become one more register to fill.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36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F3B36"/>
                </a:solidFill>
                <a:latin typeface="Cambria"/>
                <a:ea typeface="Cambria"/>
                <a:cs typeface="Cambria"/>
                <a:sym typeface="Cambria"/>
              </a:rPr>
              <a:t>For the mother-to-be: spoken, not written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3"/>
          <p:cNvSpPr/>
          <p:nvPr/>
        </p:nvSpPr>
        <p:spPr>
          <a:xfrm>
            <a:off x="2103120" y="2651760"/>
            <a:ext cx="1554480" cy="1554480"/>
          </a:xfrm>
          <a:prstGeom prst="ellipse">
            <a:avLst/>
          </a:prstGeom>
          <a:solidFill>
            <a:srgbClr val="1F3B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heartbeat_amber.png" id="182" name="Google Shape;18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0602" y="3079242"/>
            <a:ext cx="699516" cy="69951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3"/>
          <p:cNvSpPr/>
          <p:nvPr/>
        </p:nvSpPr>
        <p:spPr>
          <a:xfrm>
            <a:off x="1600200" y="425196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B3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3B36"/>
                </a:solidFill>
                <a:latin typeface="Calibri"/>
                <a:ea typeface="Calibri"/>
                <a:cs typeface="Calibri"/>
                <a:sym typeface="Calibri"/>
              </a:rPr>
              <a:t>AI Risk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B3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3B36"/>
                </a:solidFill>
                <a:latin typeface="Calibri"/>
                <a:ea typeface="Calibri"/>
                <a:cs typeface="Calibri"/>
                <a:sym typeface="Calibri"/>
              </a:rPr>
              <a:t>Prediction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" name="Google Shape;184;p13"/>
          <p:cNvCxnSpPr/>
          <p:nvPr/>
        </p:nvCxnSpPr>
        <p:spPr>
          <a:xfrm flipH="1" rot="10800000">
            <a:off x="3657600" y="1188720"/>
            <a:ext cx="5120640" cy="2240280"/>
          </a:xfrm>
          <a:prstGeom prst="straightConnector1">
            <a:avLst/>
          </a:prstGeom>
          <a:noFill/>
          <a:ln cap="flat" cmpd="sng" w="15875">
            <a:solidFill>
              <a:srgbClr val="AAB8B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5" name="Google Shape;185;p13"/>
          <p:cNvSpPr/>
          <p:nvPr/>
        </p:nvSpPr>
        <p:spPr>
          <a:xfrm>
            <a:off x="8778240" y="685800"/>
            <a:ext cx="1005840" cy="1005840"/>
          </a:xfrm>
          <a:prstGeom prst="ellipse">
            <a:avLst/>
          </a:prstGeom>
          <a:solidFill>
            <a:srgbClr val="E8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stethoscope_teal.png" id="186" name="Google Shape;18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04554" y="912114"/>
            <a:ext cx="553212" cy="553212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3"/>
          <p:cNvSpPr/>
          <p:nvPr/>
        </p:nvSpPr>
        <p:spPr>
          <a:xfrm>
            <a:off x="8412480" y="1737360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B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F3B36"/>
                </a:solidFill>
                <a:latin typeface="Calibri"/>
                <a:ea typeface="Calibri"/>
                <a:cs typeface="Calibri"/>
                <a:sym typeface="Calibri"/>
              </a:rPr>
              <a:t>Doctor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3"/>
          <p:cNvSpPr/>
          <p:nvPr/>
        </p:nvSpPr>
        <p:spPr>
          <a:xfrm>
            <a:off x="8412480" y="2057400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7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7A72"/>
                </a:solidFill>
                <a:latin typeface="Calibri"/>
                <a:ea typeface="Calibri"/>
                <a:cs typeface="Calibri"/>
                <a:sym typeface="Calibri"/>
              </a:rPr>
              <a:t>full detail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9" name="Google Shape;189;p13"/>
          <p:cNvCxnSpPr/>
          <p:nvPr/>
        </p:nvCxnSpPr>
        <p:spPr>
          <a:xfrm flipH="1" rot="10800000">
            <a:off x="3657600" y="3200400"/>
            <a:ext cx="5120640" cy="228600"/>
          </a:xfrm>
          <a:prstGeom prst="straightConnector1">
            <a:avLst/>
          </a:prstGeom>
          <a:noFill/>
          <a:ln cap="flat" cmpd="sng" w="15875">
            <a:solidFill>
              <a:srgbClr val="AAB8B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0" name="Google Shape;190;p13"/>
          <p:cNvSpPr/>
          <p:nvPr/>
        </p:nvSpPr>
        <p:spPr>
          <a:xfrm>
            <a:off x="8778240" y="2697480"/>
            <a:ext cx="1005840" cy="1005840"/>
          </a:xfrm>
          <a:prstGeom prst="ellipse">
            <a:avLst/>
          </a:prstGeom>
          <a:solidFill>
            <a:srgbClr val="E8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nurse_teal.png" id="191" name="Google Shape;19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04554" y="2923794"/>
            <a:ext cx="553212" cy="553212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3"/>
          <p:cNvSpPr/>
          <p:nvPr/>
        </p:nvSpPr>
        <p:spPr>
          <a:xfrm>
            <a:off x="8412480" y="3749040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B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F3B36"/>
                </a:solidFill>
                <a:latin typeface="Calibri"/>
                <a:ea typeface="Calibri"/>
                <a:cs typeface="Calibri"/>
                <a:sym typeface="Calibri"/>
              </a:rPr>
              <a:t>ASHA Worker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3"/>
          <p:cNvSpPr/>
          <p:nvPr/>
        </p:nvSpPr>
        <p:spPr>
          <a:xfrm>
            <a:off x="8412480" y="4069080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7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7A72"/>
                </a:solidFill>
                <a:latin typeface="Calibri"/>
                <a:ea typeface="Calibri"/>
                <a:cs typeface="Calibri"/>
                <a:sym typeface="Calibri"/>
              </a:rPr>
              <a:t>lighter load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4" name="Google Shape;194;p13"/>
          <p:cNvCxnSpPr/>
          <p:nvPr/>
        </p:nvCxnSpPr>
        <p:spPr>
          <a:xfrm>
            <a:off x="3657600" y="3429000"/>
            <a:ext cx="5120640" cy="1783080"/>
          </a:xfrm>
          <a:prstGeom prst="straightConnector1">
            <a:avLst/>
          </a:prstGeom>
          <a:noFill/>
          <a:ln cap="flat" cmpd="sng" w="28575">
            <a:solidFill>
              <a:srgbClr val="D89B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" name="Google Shape;195;p13"/>
          <p:cNvSpPr/>
          <p:nvPr/>
        </p:nvSpPr>
        <p:spPr>
          <a:xfrm>
            <a:off x="8778240" y="4709160"/>
            <a:ext cx="1005840" cy="1005840"/>
          </a:xfrm>
          <a:prstGeom prst="ellipse">
            <a:avLst/>
          </a:prstGeom>
          <a:solidFill>
            <a:srgbClr val="D89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mic_teal.png" id="196" name="Google Shape;196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04554" y="4935474"/>
            <a:ext cx="553212" cy="553212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3"/>
          <p:cNvSpPr/>
          <p:nvPr/>
        </p:nvSpPr>
        <p:spPr>
          <a:xfrm>
            <a:off x="8412480" y="5760720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B3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F3B36"/>
                </a:solidFill>
                <a:latin typeface="Calibri"/>
                <a:ea typeface="Calibri"/>
                <a:cs typeface="Calibri"/>
                <a:sym typeface="Calibri"/>
              </a:rPr>
              <a:t>Mother-to-be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3"/>
          <p:cNvSpPr/>
          <p:nvPr/>
        </p:nvSpPr>
        <p:spPr>
          <a:xfrm>
            <a:off x="8412480" y="6080760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7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7A72"/>
                </a:solidFill>
                <a:latin typeface="Calibri"/>
                <a:ea typeface="Calibri"/>
                <a:cs typeface="Calibri"/>
                <a:sym typeface="Calibri"/>
              </a:rPr>
              <a:t>spoken, in her language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3"/>
          <p:cNvSpPr/>
          <p:nvPr/>
        </p:nvSpPr>
        <p:spPr>
          <a:xfrm>
            <a:off x="640080" y="5669280"/>
            <a:ext cx="5852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1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0241F"/>
                </a:solidFill>
                <a:latin typeface="Calibri"/>
                <a:ea typeface="Calibri"/>
                <a:cs typeface="Calibri"/>
                <a:sym typeface="Calibri"/>
              </a:rPr>
              <a:t>A voice she can understand immediately, when reading isn't the easiest way in.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CE9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4"/>
          <p:cNvSpPr/>
          <p:nvPr/>
        </p:nvSpPr>
        <p:spPr>
          <a:xfrm>
            <a:off x="640080" y="50292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36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F3B36"/>
                </a:solidFill>
                <a:latin typeface="Cambria"/>
                <a:ea typeface="Cambria"/>
                <a:cs typeface="Cambria"/>
                <a:sym typeface="Cambria"/>
              </a:rPr>
              <a:t>Why Three Voices?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4"/>
          <p:cNvSpPr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2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B7A72"/>
                </a:solidFill>
                <a:latin typeface="Calibri"/>
                <a:ea typeface="Calibri"/>
                <a:cs typeface="Calibri"/>
                <a:sym typeface="Calibri"/>
              </a:rPr>
              <a:t>Three different affordances, matched to three different needs.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4"/>
          <p:cNvSpPr/>
          <p:nvPr/>
        </p:nvSpPr>
        <p:spPr>
          <a:xfrm>
            <a:off x="1965960" y="192024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stethoscope_teal.png" id="208" name="Google Shape;20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0552" y="208483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4"/>
          <p:cNvSpPr/>
          <p:nvPr/>
        </p:nvSpPr>
        <p:spPr>
          <a:xfrm>
            <a:off x="640080" y="278892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B3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F3B36"/>
                </a:solidFill>
                <a:latin typeface="Calibri"/>
                <a:ea typeface="Calibri"/>
                <a:cs typeface="Calibri"/>
                <a:sym typeface="Calibri"/>
              </a:rPr>
              <a:t>Doctor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4"/>
          <p:cNvSpPr/>
          <p:nvPr/>
        </p:nvSpPr>
        <p:spPr>
          <a:xfrm>
            <a:off x="640080" y="3127248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72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7A72"/>
                </a:solidFill>
                <a:latin typeface="Calibri"/>
                <a:ea typeface="Calibri"/>
                <a:cs typeface="Calibri"/>
                <a:sym typeface="Calibri"/>
              </a:rPr>
              <a:t>needs precision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4"/>
          <p:cNvSpPr/>
          <p:nvPr/>
        </p:nvSpPr>
        <p:spPr>
          <a:xfrm>
            <a:off x="640080" y="3401568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89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8CA891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4"/>
          <p:cNvSpPr/>
          <p:nvPr/>
        </p:nvSpPr>
        <p:spPr>
          <a:xfrm>
            <a:off x="640080" y="3730752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9B4A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D89B4A"/>
                </a:solidFill>
                <a:latin typeface="Cambria"/>
                <a:ea typeface="Cambria"/>
                <a:cs typeface="Cambria"/>
                <a:sym typeface="Cambria"/>
              </a:rPr>
              <a:t>Dashboard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4"/>
          <p:cNvSpPr/>
          <p:nvPr/>
        </p:nvSpPr>
        <p:spPr>
          <a:xfrm>
            <a:off x="5715000" y="192024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nurse_teal.png" id="214" name="Google Shape;21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79592" y="208483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4"/>
          <p:cNvSpPr/>
          <p:nvPr/>
        </p:nvSpPr>
        <p:spPr>
          <a:xfrm>
            <a:off x="4389120" y="278892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B3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F3B36"/>
                </a:solidFill>
                <a:latin typeface="Calibri"/>
                <a:ea typeface="Calibri"/>
                <a:cs typeface="Calibri"/>
                <a:sym typeface="Calibri"/>
              </a:rPr>
              <a:t>ASHA Worker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4"/>
          <p:cNvSpPr/>
          <p:nvPr/>
        </p:nvSpPr>
        <p:spPr>
          <a:xfrm>
            <a:off x="4389120" y="3127248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72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7A72"/>
                </a:solidFill>
                <a:latin typeface="Calibri"/>
                <a:ea typeface="Calibri"/>
                <a:cs typeface="Calibri"/>
                <a:sym typeface="Calibri"/>
              </a:rPr>
              <a:t>needs speed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4"/>
          <p:cNvSpPr/>
          <p:nvPr/>
        </p:nvSpPr>
        <p:spPr>
          <a:xfrm>
            <a:off x="4389120" y="3401568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89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8CA891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4"/>
          <p:cNvSpPr/>
          <p:nvPr/>
        </p:nvSpPr>
        <p:spPr>
          <a:xfrm>
            <a:off x="4389120" y="3730752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9B4A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D89B4A"/>
                </a:solidFill>
                <a:latin typeface="Cambria"/>
                <a:ea typeface="Cambria"/>
                <a:cs typeface="Cambria"/>
                <a:sym typeface="Cambria"/>
              </a:rPr>
              <a:t>Simplified workflow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4"/>
          <p:cNvSpPr/>
          <p:nvPr/>
        </p:nvSpPr>
        <p:spPr>
          <a:xfrm>
            <a:off x="9464040" y="192024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mic_teal.png" id="220" name="Google Shape;22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8632" y="208483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4"/>
          <p:cNvSpPr/>
          <p:nvPr/>
        </p:nvSpPr>
        <p:spPr>
          <a:xfrm>
            <a:off x="8138160" y="278892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B3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F3B36"/>
                </a:solidFill>
                <a:latin typeface="Calibri"/>
                <a:ea typeface="Calibri"/>
                <a:cs typeface="Calibri"/>
                <a:sym typeface="Calibri"/>
              </a:rPr>
              <a:t>Mother-to-be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4"/>
          <p:cNvSpPr/>
          <p:nvPr/>
        </p:nvSpPr>
        <p:spPr>
          <a:xfrm>
            <a:off x="8138160" y="3127248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72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7A72"/>
                </a:solidFill>
                <a:latin typeface="Calibri"/>
                <a:ea typeface="Calibri"/>
                <a:cs typeface="Calibri"/>
                <a:sym typeface="Calibri"/>
              </a:rPr>
              <a:t>needs understanding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4"/>
          <p:cNvSpPr/>
          <p:nvPr/>
        </p:nvSpPr>
        <p:spPr>
          <a:xfrm>
            <a:off x="8138160" y="3401568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89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8CA891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4"/>
          <p:cNvSpPr/>
          <p:nvPr/>
        </p:nvSpPr>
        <p:spPr>
          <a:xfrm>
            <a:off x="8138160" y="3730752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9B4A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D89B4A"/>
                </a:solidFill>
                <a:latin typeface="Cambria"/>
                <a:ea typeface="Cambria"/>
                <a:cs typeface="Cambria"/>
                <a:sym typeface="Cambria"/>
              </a:rPr>
              <a:t>Voice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4"/>
          <p:cNvSpPr/>
          <p:nvPr/>
        </p:nvSpPr>
        <p:spPr>
          <a:xfrm>
            <a:off x="640080" y="4892040"/>
            <a:ext cx="1088136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4"/>
          <p:cNvSpPr/>
          <p:nvPr/>
        </p:nvSpPr>
        <p:spPr>
          <a:xfrm>
            <a:off x="914400" y="5074920"/>
            <a:ext cx="10332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36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1F3B36"/>
                </a:solidFill>
                <a:latin typeface="Calibri"/>
                <a:ea typeface="Calibri"/>
                <a:cs typeface="Calibri"/>
                <a:sym typeface="Calibri"/>
              </a:rPr>
              <a:t>Inclusive design means adapting the explanation to the person, not expecting the person to adapt to the explanation.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"/>
          <p:cNvSpPr/>
          <p:nvPr/>
        </p:nvSpPr>
        <p:spPr>
          <a:xfrm>
            <a:off x="822960" y="777240"/>
            <a:ext cx="777240" cy="777240"/>
          </a:xfrm>
          <a:prstGeom prst="ellipse">
            <a:avLst/>
          </a:prstGeom>
          <a:solidFill>
            <a:srgbClr val="E8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wifi_teal.png" id="233" name="Google Shape;23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839" y="952119"/>
            <a:ext cx="427482" cy="427482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5"/>
          <p:cNvSpPr/>
          <p:nvPr/>
        </p:nvSpPr>
        <p:spPr>
          <a:xfrm>
            <a:off x="640080" y="169164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36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F3B36"/>
                </a:solidFill>
                <a:latin typeface="Cambria"/>
                <a:ea typeface="Cambria"/>
                <a:cs typeface="Cambria"/>
                <a:sym typeface="Cambria"/>
              </a:rPr>
              <a:t>It isn't about her eyes, or her ears.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5"/>
          <p:cNvSpPr/>
          <p:nvPr/>
        </p:nvSpPr>
        <p:spPr>
          <a:xfrm>
            <a:off x="640080" y="228600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1F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20241F"/>
                </a:solidFill>
                <a:latin typeface="Calibri"/>
                <a:ea typeface="Calibri"/>
                <a:cs typeface="Calibri"/>
                <a:sym typeface="Calibri"/>
              </a:rPr>
              <a:t>It's about confidence with technology itself.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5"/>
          <p:cNvSpPr/>
          <p:nvPr/>
        </p:nvSpPr>
        <p:spPr>
          <a:xfrm>
            <a:off x="640080" y="3246120"/>
            <a:ext cx="9966960" cy="1371600"/>
          </a:xfrm>
          <a:prstGeom prst="rect">
            <a:avLst/>
          </a:prstGeom>
          <a:solidFill>
            <a:srgbClr val="E8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5"/>
          <p:cNvSpPr/>
          <p:nvPr/>
        </p:nvSpPr>
        <p:spPr>
          <a:xfrm>
            <a:off x="914400" y="3429000"/>
            <a:ext cx="9418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36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F3B36"/>
                </a:solidFill>
                <a:latin typeface="Calibri"/>
                <a:ea typeface="Calibri"/>
                <a:cs typeface="Calibri"/>
                <a:sym typeface="Calibri"/>
              </a:rPr>
              <a:t>Accessibility isn't always sensory. Sometimes the biggest barrier is digital literacy.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5"/>
          <p:cNvSpPr/>
          <p:nvPr/>
        </p:nvSpPr>
        <p:spPr>
          <a:xfrm>
            <a:off x="548640" y="6355080"/>
            <a:ext cx="110944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2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B7A72"/>
                </a:solidFill>
                <a:latin typeface="Calibri"/>
                <a:ea typeface="Calibri"/>
                <a:cs typeface="Calibri"/>
                <a:sym typeface="Calibri"/>
              </a:rPr>
              <a:t>Source: National Statistical Office, India. Basic digital literacy: around 20% nationally, near 40% even among 15-29 year olds.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CE9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6"/>
          <p:cNvSpPr/>
          <p:nvPr/>
        </p:nvSpPr>
        <p:spPr>
          <a:xfrm>
            <a:off x="822960" y="777240"/>
            <a:ext cx="777240" cy="777240"/>
          </a:xfrm>
          <a:prstGeom prst="ellipse">
            <a:avLst/>
          </a:prstGeom>
          <a:solidFill>
            <a:srgbClr val="1F3B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comment_amber.png" id="245" name="Google Shape;24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7270" y="97155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6"/>
          <p:cNvSpPr/>
          <p:nvPr/>
        </p:nvSpPr>
        <p:spPr>
          <a:xfrm>
            <a:off x="640080" y="1828800"/>
            <a:ext cx="9601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36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F3B36"/>
                </a:solidFill>
                <a:latin typeface="Cambria"/>
                <a:ea typeface="Cambria"/>
                <a:cs typeface="Cambria"/>
                <a:sym typeface="Cambria"/>
              </a:rPr>
              <a:t>One sense can carry what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36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F3B36"/>
                </a:solidFill>
                <a:latin typeface="Cambria"/>
                <a:ea typeface="Cambria"/>
                <a:cs typeface="Cambria"/>
                <a:sym typeface="Cambria"/>
              </a:rPr>
              <a:t>another usually shows.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6"/>
          <p:cNvSpPr/>
          <p:nvPr/>
        </p:nvSpPr>
        <p:spPr>
          <a:xfrm>
            <a:off x="685800" y="320040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1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20241F"/>
                </a:solidFill>
                <a:latin typeface="Calibri"/>
                <a:ea typeface="Calibri"/>
                <a:cs typeface="Calibri"/>
                <a:sym typeface="Calibri"/>
              </a:rPr>
              <a:t>That is the affordance behind the voice layer: sound standing in for sight.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6"/>
          <p:cNvSpPr/>
          <p:nvPr/>
        </p:nvSpPr>
        <p:spPr>
          <a:xfrm>
            <a:off x="685800" y="3977640"/>
            <a:ext cx="996696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6"/>
          <p:cNvSpPr/>
          <p:nvPr/>
        </p:nvSpPr>
        <p:spPr>
          <a:xfrm>
            <a:off x="914400" y="4160520"/>
            <a:ext cx="94183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36"/>
              </a:buClr>
              <a:buSzPts val="1550"/>
              <a:buFont typeface="Calibri"/>
              <a:buNone/>
            </a:pPr>
            <a:r>
              <a:rPr b="0" i="1" lang="en-US" sz="1550" u="none" cap="none" strike="noStrike">
                <a:solidFill>
                  <a:srgbClr val="1F3B36"/>
                </a:solidFill>
                <a:latin typeface="Calibri"/>
                <a:ea typeface="Calibri"/>
                <a:cs typeface="Calibri"/>
                <a:sym typeface="Calibri"/>
              </a:rPr>
              <a:t>A real research question: when an AI converts a complex visual explanation into spoken guidance, is it performing sensory substitution, cognitive accessibility, or both?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7"/>
          <p:cNvSpPr/>
          <p:nvPr/>
        </p:nvSpPr>
        <p:spPr>
          <a:xfrm>
            <a:off x="640080" y="155448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36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F3B36"/>
                </a:solidFill>
                <a:latin typeface="Cambria"/>
                <a:ea typeface="Cambria"/>
                <a:cs typeface="Cambria"/>
                <a:sym typeface="Cambria"/>
              </a:rPr>
              <a:t>Where this actually stands today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7"/>
          <p:cNvSpPr/>
          <p:nvPr/>
        </p:nvSpPr>
        <p:spPr>
          <a:xfrm>
            <a:off x="640080" y="265176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241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20241F"/>
                </a:solidFill>
                <a:latin typeface="Calibri"/>
                <a:ea typeface="Calibri"/>
                <a:cs typeface="Calibri"/>
                <a:sym typeface="Calibri"/>
              </a:rPr>
              <a:t>The design is set.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7"/>
          <p:cNvSpPr/>
          <p:nvPr/>
        </p:nvSpPr>
        <p:spPr>
          <a:xfrm>
            <a:off x="640080" y="324612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2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6B7A72"/>
                </a:solidFill>
                <a:latin typeface="Calibri"/>
                <a:ea typeface="Calibri"/>
                <a:cs typeface="Calibri"/>
                <a:sym typeface="Calibri"/>
              </a:rPr>
              <a:t>The testing comes next.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7"/>
          <p:cNvSpPr/>
          <p:nvPr/>
        </p:nvSpPr>
        <p:spPr>
          <a:xfrm>
            <a:off x="640080" y="4297680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2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B7A72"/>
                </a:solidFill>
                <a:latin typeface="Calibri"/>
                <a:ea typeface="Calibri"/>
                <a:cs typeface="Calibri"/>
                <a:sym typeface="Calibri"/>
              </a:rPr>
              <a:t>This talk is the first step. The written report goes further.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7"/>
          <p:cNvSpPr/>
          <p:nvPr/>
        </p:nvSpPr>
        <p:spPr>
          <a:xfrm>
            <a:off x="640080" y="5029200"/>
            <a:ext cx="8778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36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F3B36"/>
                </a:solidFill>
                <a:latin typeface="Calibri"/>
                <a:ea typeface="Calibri"/>
                <a:cs typeface="Calibri"/>
                <a:sym typeface="Calibri"/>
              </a:rPr>
              <a:t>And it points to something bigger: AI that decides not just what to say, but how to say it, depending on who's listening.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0" name="Google Shape;260;p17"/>
          <p:cNvCxnSpPr/>
          <p:nvPr/>
        </p:nvCxnSpPr>
        <p:spPr>
          <a:xfrm>
            <a:off x="9281160" y="3131820"/>
            <a:ext cx="1143000" cy="0"/>
          </a:xfrm>
          <a:prstGeom prst="straightConnector1">
            <a:avLst/>
          </a:prstGeom>
          <a:noFill/>
          <a:ln cap="flat" cmpd="sng" w="19050">
            <a:solidFill>
              <a:srgbClr val="AAB8B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61" name="Google Shape;261;p17"/>
          <p:cNvSpPr/>
          <p:nvPr/>
        </p:nvSpPr>
        <p:spPr>
          <a:xfrm>
            <a:off x="8778240" y="2880360"/>
            <a:ext cx="502920" cy="502920"/>
          </a:xfrm>
          <a:prstGeom prst="ellipse">
            <a:avLst/>
          </a:prstGeom>
          <a:solidFill>
            <a:srgbClr val="1F3B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7"/>
          <p:cNvSpPr/>
          <p:nvPr/>
        </p:nvSpPr>
        <p:spPr>
          <a:xfrm>
            <a:off x="10424160" y="2880360"/>
            <a:ext cx="502920" cy="502920"/>
          </a:xfrm>
          <a:prstGeom prst="ellipse">
            <a:avLst/>
          </a:prstGeom>
          <a:solidFill>
            <a:srgbClr val="E8ECE9"/>
          </a:solidFill>
          <a:ln cap="flat" cmpd="sng" w="19050">
            <a:solidFill>
              <a:srgbClr val="1F3B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7"/>
          <p:cNvSpPr/>
          <p:nvPr/>
        </p:nvSpPr>
        <p:spPr>
          <a:xfrm>
            <a:off x="8366760" y="3474720"/>
            <a:ext cx="1325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B3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3B36"/>
                </a:solidFill>
                <a:latin typeface="Calibri"/>
                <a:ea typeface="Calibri"/>
                <a:cs typeface="Calibri"/>
                <a:sym typeface="Calibri"/>
              </a:rPr>
              <a:t>Design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10012680" y="3474720"/>
            <a:ext cx="1325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7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A72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8"/>
          <p:cNvSpPr/>
          <p:nvPr/>
        </p:nvSpPr>
        <p:spPr>
          <a:xfrm>
            <a:off x="640080" y="54864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36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F3B36"/>
                </a:solidFill>
                <a:latin typeface="Cambria"/>
                <a:ea typeface="Cambria"/>
                <a:cs typeface="Cambria"/>
                <a:sym typeface="Cambria"/>
              </a:rPr>
              <a:t>What informed this design?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8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E8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quote_sage.png" id="272" name="Google Shape;27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380" y="166878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8"/>
          <p:cNvSpPr/>
          <p:nvPr/>
        </p:nvSpPr>
        <p:spPr>
          <a:xfrm>
            <a:off x="1325880" y="150876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3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F3B36"/>
                </a:solidFill>
                <a:latin typeface="Calibri"/>
                <a:ea typeface="Calibri"/>
                <a:cs typeface="Calibri"/>
                <a:sym typeface="Calibri"/>
              </a:rPr>
              <a:t>Gaver, “Technology Affordances,” CHI ’91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8"/>
          <p:cNvSpPr/>
          <p:nvPr/>
        </p:nvSpPr>
        <p:spPr>
          <a:xfrm>
            <a:off x="1325880" y="187452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2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B7A72"/>
                </a:solidFill>
                <a:latin typeface="Calibri"/>
                <a:ea typeface="Calibri"/>
                <a:cs typeface="Calibri"/>
                <a:sym typeface="Calibri"/>
              </a:rPr>
              <a:t>the theory that lets voice carry what sight normally shows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8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rgbClr val="E8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quote_sage.png" id="276" name="Google Shape;27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380" y="281178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8"/>
          <p:cNvSpPr/>
          <p:nvPr/>
        </p:nvSpPr>
        <p:spPr>
          <a:xfrm>
            <a:off x="1325880" y="265176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3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F3B36"/>
                </a:solidFill>
                <a:latin typeface="Calibri"/>
                <a:ea typeface="Calibri"/>
                <a:cs typeface="Calibri"/>
                <a:sym typeface="Calibri"/>
              </a:rPr>
              <a:t>WHO World Reports on Vision (2019) and Hearing (2021)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8"/>
          <p:cNvSpPr/>
          <p:nvPr/>
        </p:nvSpPr>
        <p:spPr>
          <a:xfrm>
            <a:off x="1325880" y="301752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2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B7A72"/>
                </a:solidFill>
                <a:latin typeface="Calibri"/>
                <a:ea typeface="Calibri"/>
                <a:cs typeface="Calibri"/>
                <a:sym typeface="Calibri"/>
              </a:rPr>
              <a:t>the real scale of accessibility need this design has to hold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640080" y="3840480"/>
            <a:ext cx="457200" cy="457200"/>
          </a:xfrm>
          <a:prstGeom prst="ellipse">
            <a:avLst/>
          </a:prstGeom>
          <a:solidFill>
            <a:srgbClr val="E8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quote_sage.png" id="280" name="Google Shape;28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380" y="395478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8"/>
          <p:cNvSpPr/>
          <p:nvPr/>
        </p:nvSpPr>
        <p:spPr>
          <a:xfrm>
            <a:off x="1325880" y="379476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3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F3B36"/>
                </a:solidFill>
                <a:latin typeface="Calibri"/>
                <a:ea typeface="Calibri"/>
                <a:cs typeface="Calibri"/>
                <a:sym typeface="Calibri"/>
              </a:rPr>
              <a:t>Scott et al., BMJ Open, 2022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1325880" y="416052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2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B7A72"/>
                </a:solidFill>
                <a:latin typeface="Calibri"/>
                <a:ea typeface="Calibri"/>
                <a:cs typeface="Calibri"/>
                <a:sym typeface="Calibri"/>
              </a:rPr>
              <a:t>the ASHA workflow lesson that shaped the ASHA tier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8"/>
          <p:cNvSpPr/>
          <p:nvPr/>
        </p:nvSpPr>
        <p:spPr>
          <a:xfrm>
            <a:off x="640080" y="4983480"/>
            <a:ext cx="457200" cy="457200"/>
          </a:xfrm>
          <a:prstGeom prst="ellipse">
            <a:avLst/>
          </a:prstGeom>
          <a:solidFill>
            <a:srgbClr val="E8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quote_sage.png" id="284" name="Google Shape;28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380" y="509778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8"/>
          <p:cNvSpPr/>
          <p:nvPr/>
        </p:nvSpPr>
        <p:spPr>
          <a:xfrm>
            <a:off x="1325880" y="493776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3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F3B36"/>
                </a:solidFill>
                <a:latin typeface="Calibri"/>
                <a:ea typeface="Calibri"/>
                <a:cs typeface="Calibri"/>
                <a:sym typeface="Calibri"/>
              </a:rPr>
              <a:t>Kilkari trial, BMJ Global Health, 2022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8"/>
          <p:cNvSpPr/>
          <p:nvPr/>
        </p:nvSpPr>
        <p:spPr>
          <a:xfrm>
            <a:off x="1325880" y="530352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72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B7A72"/>
                </a:solidFill>
                <a:latin typeface="Calibri"/>
                <a:ea typeface="Calibri"/>
                <a:cs typeface="Calibri"/>
                <a:sym typeface="Calibri"/>
              </a:rPr>
              <a:t>the reminder that voice alone isn't automatically enough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3B36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9"/>
          <p:cNvSpPr/>
          <p:nvPr/>
        </p:nvSpPr>
        <p:spPr>
          <a:xfrm>
            <a:off x="5592928" y="914400"/>
            <a:ext cx="1005840" cy="1005840"/>
          </a:xfrm>
          <a:prstGeom prst="ellipse">
            <a:avLst/>
          </a:prstGeom>
          <a:solidFill>
            <a:srgbClr val="162B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heartbeat_amber.png" id="293" name="Google Shape;29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4388" y="116586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9"/>
          <p:cNvSpPr/>
          <p:nvPr/>
        </p:nvSpPr>
        <p:spPr>
          <a:xfrm>
            <a:off x="914413" y="2157240"/>
            <a:ext cx="103326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6F5F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6F5F1"/>
                </a:solidFill>
                <a:latin typeface="Cambria"/>
                <a:ea typeface="Cambria"/>
                <a:cs typeface="Cambria"/>
                <a:sym typeface="Cambria"/>
              </a:rPr>
              <a:t>One prediction. Three voices.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6F5F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6F5F1"/>
                </a:solidFill>
                <a:latin typeface="Cambria"/>
                <a:ea typeface="Cambria"/>
                <a:cs typeface="Cambria"/>
                <a:sym typeface="Cambria"/>
              </a:rPr>
              <a:t>One chance to get it right.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9"/>
          <p:cNvSpPr/>
          <p:nvPr/>
        </p:nvSpPr>
        <p:spPr>
          <a:xfrm>
            <a:off x="914413" y="3857350"/>
            <a:ext cx="10332600" cy="7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891"/>
              </a:buClr>
              <a:buSzPts val="1600"/>
              <a:buFont typeface="Calibri"/>
              <a:buNone/>
            </a:pPr>
            <a:r>
              <a:t/>
            </a:r>
            <a:endParaRPr i="1" sz="1600">
              <a:solidFill>
                <a:srgbClr val="8CA89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891"/>
              </a:buClr>
              <a:buSzPts val="1600"/>
              <a:buFont typeface="Calibri"/>
              <a:buNone/>
            </a:pPr>
            <a:r>
              <a:t/>
            </a:r>
            <a:endParaRPr i="1" sz="1600">
              <a:solidFill>
                <a:srgbClr val="8CA89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A891"/>
              </a:buClr>
              <a:buSzPts val="1600"/>
              <a:buFont typeface="Calibri"/>
              <a:buNone/>
            </a:pPr>
            <a:r>
              <a:t/>
            </a:r>
            <a:endParaRPr i="1" sz="1600">
              <a:solidFill>
                <a:srgbClr val="8CA89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891"/>
              </a:buClr>
              <a:buSzPts val="1600"/>
              <a:buFont typeface="Calibri"/>
              <a:buNone/>
            </a:pPr>
            <a:r>
              <a:rPr b="0" i="1" lang="en-US" sz="2100" u="none" cap="none" strike="noStrike">
                <a:solidFill>
                  <a:srgbClr val="8CA891"/>
                </a:solidFill>
                <a:latin typeface="Calibri"/>
                <a:ea typeface="Calibri"/>
                <a:cs typeface="Calibri"/>
                <a:sym typeface="Calibri"/>
              </a:rPr>
              <a:t>Thank you. </a:t>
            </a:r>
            <a:endParaRPr b="0" i="1" sz="2100" u="none" cap="none" strike="noStrike">
              <a:solidFill>
                <a:srgbClr val="8CA89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891"/>
              </a:buClr>
              <a:buSzPts val="1600"/>
              <a:buFont typeface="Calibri"/>
              <a:buNone/>
            </a:pPr>
            <a:r>
              <a:t/>
            </a:r>
            <a:endParaRPr i="1" sz="1600">
              <a:solidFill>
                <a:srgbClr val="8CA89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891"/>
              </a:buClr>
              <a:buSzPts val="1600"/>
              <a:buFont typeface="Calibri"/>
              <a:buNone/>
            </a:pPr>
            <a:r>
              <a:t/>
            </a:r>
            <a:endParaRPr i="1" sz="1600">
              <a:solidFill>
                <a:srgbClr val="8CA89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891"/>
              </a:buClr>
              <a:buSzPts val="1600"/>
              <a:buFont typeface="Calibri"/>
              <a:buNone/>
            </a:pPr>
            <a:r>
              <a:rPr i="1" lang="en-US" sz="2000">
                <a:solidFill>
                  <a:srgbClr val="8CA891"/>
                </a:solidFill>
                <a:latin typeface="Calibri"/>
                <a:ea typeface="Calibri"/>
                <a:cs typeface="Calibri"/>
                <a:sym typeface="Calibri"/>
              </a:rPr>
              <a:t>Prepared By: Maitreya Sapariya</a:t>
            </a:r>
            <a:endParaRPr i="1" sz="2000">
              <a:solidFill>
                <a:srgbClr val="8CA89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891"/>
              </a:buClr>
              <a:buSzPts val="1600"/>
              <a:buFont typeface="Calibri"/>
              <a:buNone/>
            </a:pPr>
            <a:r>
              <a:rPr i="1" lang="en-US" sz="2000">
                <a:solidFill>
                  <a:srgbClr val="8CA891"/>
                </a:solidFill>
                <a:latin typeface="Calibri"/>
                <a:ea typeface="Calibri"/>
                <a:cs typeface="Calibri"/>
                <a:sym typeface="Calibri"/>
              </a:rPr>
              <a:t>Email: maitreyasapariya@gmail.com</a:t>
            </a:r>
            <a:endParaRPr i="1" sz="2000">
              <a:solidFill>
                <a:srgbClr val="8CA89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A891"/>
              </a:buClr>
              <a:buSzPts val="1600"/>
              <a:buFont typeface="Calibri"/>
              <a:buNone/>
            </a:pPr>
            <a:r>
              <a:t/>
            </a:r>
            <a:endParaRPr i="1" sz="2000">
              <a:solidFill>
                <a:srgbClr val="8CA89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